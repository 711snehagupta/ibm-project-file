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grandir" panose="020B0604020202020204" charset="0"/>
      <p:regular r:id="rId8"/>
    </p:embeddedFont>
    <p:embeddedFont>
      <p:font typeface="Agrandir Bold" panose="020B0604020202020204" charset="0"/>
      <p:regular r:id="rId9"/>
    </p:embeddedFon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Londrina Soli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9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gif"/><Relationship Id="rId4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0800000">
            <a:off x="6355962" y="-2269890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730750" y="3001584"/>
            <a:ext cx="12295599" cy="2845258"/>
            <a:chOff x="0" y="0"/>
            <a:chExt cx="16394132" cy="3793678"/>
          </a:xfrm>
        </p:grpSpPr>
        <p:sp>
          <p:nvSpPr>
            <p:cNvPr id="4" name="TextBox 4"/>
            <p:cNvSpPr txBox="1"/>
            <p:nvPr/>
          </p:nvSpPr>
          <p:spPr>
            <a:xfrm>
              <a:off x="0" y="114300"/>
              <a:ext cx="16394132" cy="2587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640"/>
                </a:lnSpc>
              </a:pPr>
              <a:r>
                <a:rPr lang="en-US" sz="13309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DEVOPS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040899"/>
              <a:ext cx="16394132" cy="752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844719" y="6251085"/>
            <a:ext cx="6598563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SNEHA GUPTA</a:t>
            </a: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BTECH IBM (SECOND YEAR)</a:t>
            </a: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UNITED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3616" y="309562"/>
            <a:ext cx="15543439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Challenges in the Pre-DevOps Era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005318" y="2677160"/>
            <a:ext cx="14660035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Communication gap between Dev and Ops → frequent misunderstandings.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Slow software releases due to long deployment cycles.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Manual processes for testing, integration, and deployment → error-prone.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Developers said “It works on my machine,” while Ops struggled in production.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High downtime during updates and maintenance.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Lack of automation → more effort, delayed feedback, lower productivity.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2B2B2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56070" y="1028700"/>
            <a:ext cx="3998527" cy="3619968"/>
            <a:chOff x="0" y="0"/>
            <a:chExt cx="5580380" cy="5052060"/>
          </a:xfrm>
        </p:grpSpPr>
        <p:sp>
          <p:nvSpPr>
            <p:cNvPr id="3" name="Freeform 3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-17866" r="-178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059650" y="5768559"/>
            <a:ext cx="3994946" cy="3489741"/>
            <a:chOff x="0" y="0"/>
            <a:chExt cx="5975350" cy="5219700"/>
          </a:xfrm>
        </p:grpSpPr>
        <p:sp>
          <p:nvSpPr>
            <p:cNvPr id="5" name="Freeform 5"/>
            <p:cNvSpPr/>
            <p:nvPr/>
          </p:nvSpPr>
          <p:spPr>
            <a:xfrm>
              <a:off x="6467" y="6412"/>
              <a:ext cx="5963222" cy="5207231"/>
            </a:xfrm>
            <a:custGeom>
              <a:avLst/>
              <a:gdLst/>
              <a:ahLst/>
              <a:cxnLst/>
              <a:rect l="l" t="t" r="r" b="b"/>
              <a:pathLst>
                <a:path w="5963222" h="5207231">
                  <a:moveTo>
                    <a:pt x="2335413" y="4117278"/>
                  </a:moveTo>
                  <a:cubicBezTo>
                    <a:pt x="3827663" y="4117278"/>
                    <a:pt x="3023753" y="5271708"/>
                    <a:pt x="4566803" y="5204398"/>
                  </a:cubicBezTo>
                  <a:cubicBezTo>
                    <a:pt x="5882523" y="5147248"/>
                    <a:pt x="6855343" y="2572958"/>
                    <a:pt x="4681103" y="1371538"/>
                  </a:cubicBezTo>
                  <a:cubicBezTo>
                    <a:pt x="2945013" y="411418"/>
                    <a:pt x="104023" y="-917002"/>
                    <a:pt x="504073" y="913068"/>
                  </a:cubicBezTo>
                  <a:cubicBezTo>
                    <a:pt x="904123" y="2743138"/>
                    <a:pt x="-525897" y="3315908"/>
                    <a:pt x="218323" y="4288728"/>
                  </a:cubicBezTo>
                  <a:cubicBezTo>
                    <a:pt x="962543" y="5261548"/>
                    <a:pt x="1018423" y="4117278"/>
                    <a:pt x="2335413" y="4117278"/>
                  </a:cubicBezTo>
                  <a:close/>
                </a:path>
              </a:pathLst>
            </a:custGeom>
            <a:blipFill>
              <a:blip r:embed="rId3"/>
              <a:stretch>
                <a:fillRect l="-3227" r="-322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537397" y="2680285"/>
            <a:ext cx="4393625" cy="992100"/>
            <a:chOff x="0" y="0"/>
            <a:chExt cx="5858166" cy="13228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123825"/>
              <a:ext cx="5858166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devlopment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71832"/>
              <a:ext cx="5858166" cy="550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4424362"/>
            <a:ext cx="6070147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DEV + OPS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862095" y="6626855"/>
            <a:ext cx="5068926" cy="1773150"/>
            <a:chOff x="0" y="0"/>
            <a:chExt cx="6758568" cy="23642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23825"/>
              <a:ext cx="6758568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operation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71832"/>
              <a:ext cx="6758568" cy="1592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Respons</a:t>
              </a:r>
              <a:r>
                <a:rPr lang="en-US" sz="22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ible for deploying, running, and maintaining applications on servers.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29224" y="3229959"/>
            <a:ext cx="6059367" cy="122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Focused only on writing and improving code.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Their goal: add new features, fix bugs, enhance functionality.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289265" y="1451505"/>
            <a:ext cx="7990956" cy="7166041"/>
          </a:xfrm>
          <a:custGeom>
            <a:avLst/>
            <a:gdLst/>
            <a:ahLst/>
            <a:cxnLst/>
            <a:rect l="l" t="t" r="r" b="b"/>
            <a:pathLst>
              <a:path w="7990956" h="7166041">
                <a:moveTo>
                  <a:pt x="0" y="0"/>
                </a:moveTo>
                <a:lnTo>
                  <a:pt x="7990956" y="0"/>
                </a:lnTo>
                <a:lnTo>
                  <a:pt x="7990956" y="7166042"/>
                </a:lnTo>
                <a:lnTo>
                  <a:pt x="0" y="7166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809" r="-2980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043511" y="833974"/>
            <a:ext cx="8215789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Dev + Ops = DevOps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64376" y="2372243"/>
            <a:ext cx="9294785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Development and Operations work together as one team.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Uses automation for testing, building, and deployment.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Software releases become faster, more frequent, and more reliable.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Reduces errors, downtime, and communication gaps.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Improves collaboration, speed, quality, and system stability.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2B2B2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399999">
            <a:off x="5623226" y="5881824"/>
            <a:ext cx="9501720" cy="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845129" y="3895725"/>
            <a:ext cx="5956776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Devops </a:t>
            </a:r>
          </a:p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practices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620500" y="1028700"/>
            <a:ext cx="4616333" cy="1926493"/>
            <a:chOff x="0" y="0"/>
            <a:chExt cx="6155110" cy="2568658"/>
          </a:xfrm>
        </p:grpSpPr>
        <p:sp>
          <p:nvSpPr>
            <p:cNvPr id="5" name="TextBox 5"/>
            <p:cNvSpPr txBox="1"/>
            <p:nvPr/>
          </p:nvSpPr>
          <p:spPr>
            <a:xfrm>
              <a:off x="0" y="-123825"/>
              <a:ext cx="6155110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Cont</a:t>
              </a:r>
              <a:r>
                <a:rPr lang="en-US" sz="28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inuous Improvement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32052"/>
              <a:ext cx="6155110" cy="1636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r>
                <a:rPr lang="en-US" sz="23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Regu</a:t>
              </a:r>
              <a:r>
                <a:rPr lang="en-US" sz="23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larly enhancing processes and products based on feedback.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111339" y="92167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r="-83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620500" y="3268589"/>
            <a:ext cx="4481272" cy="2326543"/>
            <a:chOff x="0" y="0"/>
            <a:chExt cx="5975030" cy="310205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23825"/>
              <a:ext cx="5975030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Cont</a:t>
              </a:r>
              <a:r>
                <a:rPr lang="en-US" sz="28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inuous Integration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32052"/>
              <a:ext cx="5975030" cy="2170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r>
                <a:rPr lang="en-US" sz="23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</a:t>
              </a:r>
              <a:r>
                <a:rPr lang="en-US" sz="23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requently merging code changes into a shared repository with automated testing.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55560" y="5722531"/>
            <a:ext cx="4481272" cy="1926493"/>
            <a:chOff x="0" y="0"/>
            <a:chExt cx="5975030" cy="256865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23825"/>
              <a:ext cx="5975030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Cont</a:t>
              </a:r>
              <a:r>
                <a:rPr lang="en-US" sz="28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inuous Delivery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32052"/>
              <a:ext cx="5975030" cy="1636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r>
                <a:rPr lang="en-US" sz="23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Automatical</a:t>
              </a:r>
              <a:r>
                <a:rPr lang="en-US" sz="23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ly preparing code for release so it can be deployed at any time.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55560" y="8069447"/>
            <a:ext cx="4481272" cy="1926493"/>
            <a:chOff x="0" y="0"/>
            <a:chExt cx="5975030" cy="256865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23825"/>
              <a:ext cx="5975030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Cont</a:t>
              </a:r>
              <a:r>
                <a:rPr lang="en-US" sz="2800" b="1" u="non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inuous Monitoring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32052"/>
              <a:ext cx="5975030" cy="1636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r>
                <a:rPr lang="en-US" sz="23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</a:t>
              </a:r>
              <a:r>
                <a:rPr lang="en-US" sz="2300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onstantly tracking system performance and errors to detect issues early.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0111339" y="326858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r="-83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111339" y="5508478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r="-83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111339" y="785539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r="-83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911263" y="4123928"/>
            <a:ext cx="8465475" cy="2039144"/>
            <a:chOff x="0" y="0"/>
            <a:chExt cx="11287299" cy="2718859"/>
          </a:xfrm>
        </p:grpSpPr>
        <p:sp>
          <p:nvSpPr>
            <p:cNvPr id="4" name="TextBox 4"/>
            <p:cNvSpPr txBox="1"/>
            <p:nvPr/>
          </p:nvSpPr>
          <p:spPr>
            <a:xfrm>
              <a:off x="0" y="-238125"/>
              <a:ext cx="11287299" cy="1901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839"/>
                </a:lnSpc>
                <a:spcBef>
                  <a:spcPct val="0"/>
                </a:spcBef>
              </a:pPr>
              <a:r>
                <a:rPr lang="en-US" sz="81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73487"/>
              <a:ext cx="11287299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236</Words>
  <Application>Microsoft Office PowerPoint</Application>
  <PresentationFormat>Custom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Agrandir</vt:lpstr>
      <vt:lpstr>Londrina Solid</vt:lpstr>
      <vt:lpstr>Canva Sans Bold</vt:lpstr>
      <vt:lpstr>Agrandir Bold</vt:lpstr>
      <vt:lpstr>Calibri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cp:lastModifiedBy>Sneha Gupta</cp:lastModifiedBy>
  <cp:revision>2</cp:revision>
  <dcterms:created xsi:type="dcterms:W3CDTF">2006-08-16T00:00:00Z</dcterms:created>
  <dcterms:modified xsi:type="dcterms:W3CDTF">2025-11-21T17:18:00Z</dcterms:modified>
  <dc:identifier>DAG5WAB2nEg</dc:identifier>
</cp:coreProperties>
</file>